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7" r:id="rId2"/>
    <p:sldId id="258" r:id="rId3"/>
    <p:sldId id="259" r:id="rId4"/>
    <p:sldId id="1460" r:id="rId5"/>
    <p:sldId id="1461" r:id="rId6"/>
    <p:sldId id="1462" r:id="rId7"/>
    <p:sldId id="1463" r:id="rId8"/>
    <p:sldId id="1468" r:id="rId9"/>
    <p:sldId id="1483" r:id="rId10"/>
    <p:sldId id="1473" r:id="rId11"/>
    <p:sldId id="1470" r:id="rId12"/>
    <p:sldId id="148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B0BC78-C5B5-4781-979E-10D3B54AC569}" v="2" dt="2026-09-14T17:21:32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65333" autoAdjust="0"/>
  </p:normalViewPr>
  <p:slideViewPr>
    <p:cSldViewPr snapToGrid="0">
      <p:cViewPr varScale="1">
        <p:scale>
          <a:sx n="72" d="100"/>
          <a:sy n="72" d="100"/>
        </p:scale>
        <p:origin x="178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高揚喻 KAO,YANG-YU" userId="280d6e36-3239-4a85-8c5d-275053250129" providerId="ADAL" clId="{2845042F-17A9-41D3-85E9-01762C9056AC}"/>
    <pc:docChg chg="addSld delSld modSld delMainMaster">
      <pc:chgData name="高揚喻 KAO,YANG-YU" userId="280d6e36-3239-4a85-8c5d-275053250129" providerId="ADAL" clId="{2845042F-17A9-41D3-85E9-01762C9056AC}" dt="2026-09-14T17:21:33.708" v="5" actId="47"/>
      <pc:docMkLst>
        <pc:docMk/>
      </pc:docMkLst>
      <pc:sldChg chg="del">
        <pc:chgData name="高揚喻 KAO,YANG-YU" userId="280d6e36-3239-4a85-8c5d-275053250129" providerId="ADAL" clId="{2845042F-17A9-41D3-85E9-01762C9056AC}" dt="2026-09-14T13:06:51.849" v="1" actId="47"/>
        <pc:sldMkLst>
          <pc:docMk/>
          <pc:sldMk cId="109857222" sldId="256"/>
        </pc:sldMkLst>
      </pc:sldChg>
      <pc:sldChg chg="add">
        <pc:chgData name="高揚喻 KAO,YANG-YU" userId="280d6e36-3239-4a85-8c5d-275053250129" providerId="ADAL" clId="{2845042F-17A9-41D3-85E9-01762C9056AC}" dt="2026-09-14T13:06:50.167" v="0"/>
        <pc:sldMkLst>
          <pc:docMk/>
          <pc:sldMk cId="4050173922" sldId="257"/>
        </pc:sldMkLst>
      </pc:sldChg>
      <pc:sldChg chg="add">
        <pc:chgData name="高揚喻 KAO,YANG-YU" userId="280d6e36-3239-4a85-8c5d-275053250129" providerId="ADAL" clId="{2845042F-17A9-41D3-85E9-01762C9056AC}" dt="2026-09-14T13:06:50.167" v="0"/>
        <pc:sldMkLst>
          <pc:docMk/>
          <pc:sldMk cId="1412156804" sldId="258"/>
        </pc:sldMkLst>
      </pc:sldChg>
      <pc:sldChg chg="add">
        <pc:chgData name="高揚喻 KAO,YANG-YU" userId="280d6e36-3239-4a85-8c5d-275053250129" providerId="ADAL" clId="{2845042F-17A9-41D3-85E9-01762C9056AC}" dt="2026-09-14T13:06:50.167" v="0"/>
        <pc:sldMkLst>
          <pc:docMk/>
          <pc:sldMk cId="3939673883" sldId="259"/>
        </pc:sldMkLst>
      </pc:sldChg>
      <pc:sldChg chg="add">
        <pc:chgData name="高揚喻 KAO,YANG-YU" userId="280d6e36-3239-4a85-8c5d-275053250129" providerId="ADAL" clId="{2845042F-17A9-41D3-85E9-01762C9056AC}" dt="2026-09-14T13:06:50.167" v="0"/>
        <pc:sldMkLst>
          <pc:docMk/>
          <pc:sldMk cId="1680203823" sldId="1453"/>
        </pc:sldMkLst>
      </pc:sldChg>
      <pc:sldChg chg="add">
        <pc:chgData name="高揚喻 KAO,YANG-YU" userId="280d6e36-3239-4a85-8c5d-275053250129" providerId="ADAL" clId="{2845042F-17A9-41D3-85E9-01762C9056AC}" dt="2026-09-14T13:06:50.167" v="0"/>
        <pc:sldMkLst>
          <pc:docMk/>
          <pc:sldMk cId="1861134935" sldId="1460"/>
        </pc:sldMkLst>
      </pc:sldChg>
      <pc:sldChg chg="add">
        <pc:chgData name="高揚喻 KAO,YANG-YU" userId="280d6e36-3239-4a85-8c5d-275053250129" providerId="ADAL" clId="{2845042F-17A9-41D3-85E9-01762C9056AC}" dt="2026-09-14T13:06:50.167" v="0"/>
        <pc:sldMkLst>
          <pc:docMk/>
          <pc:sldMk cId="1507942411" sldId="1461"/>
        </pc:sldMkLst>
      </pc:sldChg>
      <pc:sldChg chg="add">
        <pc:chgData name="高揚喻 KAO,YANG-YU" userId="280d6e36-3239-4a85-8c5d-275053250129" providerId="ADAL" clId="{2845042F-17A9-41D3-85E9-01762C9056AC}" dt="2026-09-14T13:06:50.167" v="0"/>
        <pc:sldMkLst>
          <pc:docMk/>
          <pc:sldMk cId="1729076839" sldId="1462"/>
        </pc:sldMkLst>
      </pc:sldChg>
      <pc:sldChg chg="add">
        <pc:chgData name="高揚喻 KAO,YANG-YU" userId="280d6e36-3239-4a85-8c5d-275053250129" providerId="ADAL" clId="{2845042F-17A9-41D3-85E9-01762C9056AC}" dt="2026-09-14T13:06:50.167" v="0"/>
        <pc:sldMkLst>
          <pc:docMk/>
          <pc:sldMk cId="2260499265" sldId="1463"/>
        </pc:sldMkLst>
      </pc:sldChg>
      <pc:sldChg chg="add">
        <pc:chgData name="高揚喻 KAO,YANG-YU" userId="280d6e36-3239-4a85-8c5d-275053250129" providerId="ADAL" clId="{2845042F-17A9-41D3-85E9-01762C9056AC}" dt="2026-09-14T13:06:50.167" v="0"/>
        <pc:sldMkLst>
          <pc:docMk/>
          <pc:sldMk cId="1580171499" sldId="1468"/>
        </pc:sldMkLst>
      </pc:sldChg>
      <pc:sldChg chg="add">
        <pc:chgData name="高揚喻 KAO,YANG-YU" userId="280d6e36-3239-4a85-8c5d-275053250129" providerId="ADAL" clId="{2845042F-17A9-41D3-85E9-01762C9056AC}" dt="2026-09-14T13:06:50.167" v="0"/>
        <pc:sldMkLst>
          <pc:docMk/>
          <pc:sldMk cId="2794682566" sldId="1470"/>
        </pc:sldMkLst>
      </pc:sldChg>
      <pc:sldChg chg="add">
        <pc:chgData name="高揚喻 KAO,YANG-YU" userId="280d6e36-3239-4a85-8c5d-275053250129" providerId="ADAL" clId="{2845042F-17A9-41D3-85E9-01762C9056AC}" dt="2026-09-14T13:06:50.167" v="0"/>
        <pc:sldMkLst>
          <pc:docMk/>
          <pc:sldMk cId="1528393194" sldId="1473"/>
        </pc:sldMkLst>
      </pc:sldChg>
      <pc:sldChg chg="add del modNotesTx">
        <pc:chgData name="高揚喻 KAO,YANG-YU" userId="280d6e36-3239-4a85-8c5d-275053250129" providerId="ADAL" clId="{2845042F-17A9-41D3-85E9-01762C9056AC}" dt="2026-09-14T17:21:33.708" v="5" actId="47"/>
        <pc:sldMkLst>
          <pc:docMk/>
          <pc:sldMk cId="867173897" sldId="1475"/>
        </pc:sldMkLst>
      </pc:sldChg>
      <pc:sldChg chg="add">
        <pc:chgData name="高揚喻 KAO,YANG-YU" userId="280d6e36-3239-4a85-8c5d-275053250129" providerId="ADAL" clId="{2845042F-17A9-41D3-85E9-01762C9056AC}" dt="2026-09-14T13:06:50.167" v="0"/>
        <pc:sldMkLst>
          <pc:docMk/>
          <pc:sldMk cId="1908945511" sldId="1482"/>
        </pc:sldMkLst>
      </pc:sldChg>
      <pc:sldChg chg="add">
        <pc:chgData name="高揚喻 KAO,YANG-YU" userId="280d6e36-3239-4a85-8c5d-275053250129" providerId="ADAL" clId="{2845042F-17A9-41D3-85E9-01762C9056AC}" dt="2026-09-14T17:21:32.115" v="4"/>
        <pc:sldMkLst>
          <pc:docMk/>
          <pc:sldMk cId="2877262356" sldId="1483"/>
        </pc:sldMkLst>
      </pc:sldChg>
      <pc:sldMasterChg chg="del delSldLayout">
        <pc:chgData name="高揚喻 KAO,YANG-YU" userId="280d6e36-3239-4a85-8c5d-275053250129" providerId="ADAL" clId="{2845042F-17A9-41D3-85E9-01762C9056AC}" dt="2026-09-14T13:06:51.849" v="1" actId="47"/>
        <pc:sldMasterMkLst>
          <pc:docMk/>
          <pc:sldMasterMk cId="2460954070" sldId="2147483660"/>
        </pc:sldMasterMkLst>
        <pc:sldLayoutChg chg="del">
          <pc:chgData name="高揚喻 KAO,YANG-YU" userId="280d6e36-3239-4a85-8c5d-275053250129" providerId="ADAL" clId="{2845042F-17A9-41D3-85E9-01762C9056AC}" dt="2026-09-14T13:06:51.849" v="1" actId="47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高揚喻 KAO,YANG-YU" userId="280d6e36-3239-4a85-8c5d-275053250129" providerId="ADAL" clId="{2845042F-17A9-41D3-85E9-01762C9056AC}" dt="2026-09-14T13:06:51.849" v="1" actId="47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高揚喻 KAO,YANG-YU" userId="280d6e36-3239-4a85-8c5d-275053250129" providerId="ADAL" clId="{2845042F-17A9-41D3-85E9-01762C9056AC}" dt="2026-09-14T13:06:51.849" v="1" actId="47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高揚喻 KAO,YANG-YU" userId="280d6e36-3239-4a85-8c5d-275053250129" providerId="ADAL" clId="{2845042F-17A9-41D3-85E9-01762C9056AC}" dt="2026-09-14T13:06:51.849" v="1" actId="47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高揚喻 KAO,YANG-YU" userId="280d6e36-3239-4a85-8c5d-275053250129" providerId="ADAL" clId="{2845042F-17A9-41D3-85E9-01762C9056AC}" dt="2026-09-14T13:06:51.849" v="1" actId="47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高揚喻 KAO,YANG-YU" userId="280d6e36-3239-4a85-8c5d-275053250129" providerId="ADAL" clId="{2845042F-17A9-41D3-85E9-01762C9056AC}" dt="2026-09-14T13:06:51.849" v="1" actId="47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高揚喻 KAO,YANG-YU" userId="280d6e36-3239-4a85-8c5d-275053250129" providerId="ADAL" clId="{2845042F-17A9-41D3-85E9-01762C9056AC}" dt="2026-09-14T13:06:51.849" v="1" actId="47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高揚喻 KAO,YANG-YU" userId="280d6e36-3239-4a85-8c5d-275053250129" providerId="ADAL" clId="{2845042F-17A9-41D3-85E9-01762C9056AC}" dt="2026-09-14T13:06:51.849" v="1" actId="47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高揚喻 KAO,YANG-YU" userId="280d6e36-3239-4a85-8c5d-275053250129" providerId="ADAL" clId="{2845042F-17A9-41D3-85E9-01762C9056AC}" dt="2026-09-14T13:06:51.849" v="1" actId="47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高揚喻 KAO,YANG-YU" userId="280d6e36-3239-4a85-8c5d-275053250129" providerId="ADAL" clId="{2845042F-17A9-41D3-85E9-01762C9056AC}" dt="2026-09-14T13:06:51.849" v="1" actId="47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高揚喻 KAO,YANG-YU" userId="280d6e36-3239-4a85-8c5d-275053250129" providerId="ADAL" clId="{2845042F-17A9-41D3-85E9-01762C9056AC}" dt="2026-09-14T13:06:51.849" v="1" actId="47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BE2308-5289-4523-801F-ACE9BFF91399}" type="datetimeFigureOut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95A89E-4FA5-47CB-BB5E-08CED8632A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676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DACD3A-FF2B-44B5-A5DD-C21B3381FD86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6864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DACD3A-FF2B-44B5-A5DD-C21B3381FD86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4966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自己加 有幾個</a:t>
            </a:r>
            <a:r>
              <a:rPr lang="en-US" altLang="zh-TW" dirty="0"/>
              <a:t>bug</a:t>
            </a:r>
          </a:p>
          <a:p>
            <a:endParaRPr lang="en-US" altLang="zh-TW" dirty="0"/>
          </a:p>
          <a:p>
            <a:r>
              <a:rPr lang="zh-TW" altLang="en-US" dirty="0"/>
              <a:t>因為 </a:t>
            </a:r>
            <a:r>
              <a:rPr lang="en-US" altLang="zh-TW" dirty="0"/>
              <a:t>bug </a:t>
            </a:r>
            <a:r>
              <a:rPr lang="zh-TW" altLang="en-US" dirty="0"/>
              <a:t>不只一個，不同的 </a:t>
            </a:r>
            <a:r>
              <a:rPr lang="en-US" altLang="zh-TW" dirty="0"/>
              <a:t>assert property </a:t>
            </a:r>
            <a:r>
              <a:rPr lang="zh-TW" altLang="en-US" dirty="0"/>
              <a:t>會找到不同的 </a:t>
            </a:r>
            <a:r>
              <a:rPr lang="en-US" altLang="zh-TW" dirty="0"/>
              <a:t>bug;</a:t>
            </a:r>
          </a:p>
          <a:p>
            <a:endParaRPr lang="en-US" altLang="zh-TW" dirty="0"/>
          </a:p>
          <a:p>
            <a:r>
              <a:rPr lang="zh-TW" altLang="en-US" dirty="0"/>
              <a:t>你們可以慢慢修 </a:t>
            </a:r>
            <a:r>
              <a:rPr lang="en-US" altLang="zh-TW" dirty="0"/>
              <a:t>bugs, </a:t>
            </a:r>
            <a:r>
              <a:rPr lang="zh-TW" altLang="en-US" dirty="0"/>
              <a:t>看 </a:t>
            </a:r>
            <a:r>
              <a:rPr lang="en-US" altLang="zh-TW" dirty="0"/>
              <a:t>assert property </a:t>
            </a:r>
            <a:r>
              <a:rPr lang="zh-TW" altLang="en-US" dirty="0"/>
              <a:t> </a:t>
            </a:r>
            <a:r>
              <a:rPr lang="en-US" altLang="zh-TW" dirty="0"/>
              <a:t>bound </a:t>
            </a:r>
            <a:r>
              <a:rPr lang="zh-TW" altLang="en-US" dirty="0"/>
              <a:t>會不會往後推或打勾</a:t>
            </a:r>
            <a:r>
              <a:rPr lang="en-US" altLang="zh-TW" dirty="0"/>
              <a:t>;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DACD3A-FF2B-44B5-A5DD-C21B3381FD86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362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DACD3A-FF2B-44B5-A5DD-C21B3381FD86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1420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DACD3A-FF2B-44B5-A5DD-C21B3381FD86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2077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DACD3A-FF2B-44B5-A5DD-C21B3381FD86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9693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9D19B3-BDB5-2178-0DD3-B47A6EAC9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4BDE5F0-143B-9F3C-C15E-49ACAF822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F516EB-AAB0-4B5F-9AB1-F2207950D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D7F9C-78A6-473C-BDC9-320D461A99E5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23DEAD-F765-DED8-1927-5BA9DE43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9C3D3A-2653-B15E-CD48-51EC10C9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2440" y="6492875"/>
            <a:ext cx="2743200" cy="365125"/>
          </a:xfrm>
        </p:spPr>
        <p:txBody>
          <a:bodyPr/>
          <a:lstStyle/>
          <a:p>
            <a:fld id="{C13C90B9-1F08-4CE1-AE65-58F4412E4D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633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1A27B6-376B-4C08-C332-1361307F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8CE49F-1770-A787-4DA9-D31A23F3F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33D99B-7195-3CE6-A79A-9312A8FFD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0C20-3A88-4301-AE81-233A5979FD80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4C3D62-4458-CDEB-8E8B-C49EA93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E5F98D4-E513-AB50-53F7-2A9077C46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C90B9-1F08-4CE1-AE65-58F4412E4D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455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61EF5E-146F-2C99-E77C-B7C6BBDC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FA87D25-0510-BAC0-B37E-3F84C989C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172ABD-592A-D744-32BC-BA1BFE3E9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B57D9-1BAA-44CD-B948-D8D2F6597C34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B7D9F1-D906-B57F-3B9F-8A7ACC48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EC5DE07-A36F-2E7B-C66E-7A435552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C90B9-1F08-4CE1-AE65-58F4412E4D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2925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9D064A-B593-B5A5-FFE1-359A75BFB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404E9C-9A42-C29D-6833-A16203FBA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0FF98D6-0AC0-893B-9238-C1B241A61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406B1F-A89A-81C4-C6CB-C9EFB6F0B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B7B7-286B-4D7B-993D-610F586BE9CF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83E5A25-9446-D595-3D65-B0E17A107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A598F57-96EF-F19B-BF71-D1BC52F64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C90B9-1F08-4CE1-AE65-58F4412E4D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4905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B7819F-E1E3-5E35-2507-B2D22A9B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04CEF21-080C-540A-C0FC-4CDB95CE4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1305564-FC03-BCAA-3F52-3242C699C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70DDFD7-B09C-1745-60C6-34668028D3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E49AA09-1FD0-61BE-B9A1-D929D3590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3021807-70E8-D13E-3400-10BEA32B7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4E54-27D3-48AB-9EF9-FF9A01298DBB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77C4636-BB12-A2DA-960F-83678265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5770903-F6E3-F8C3-59D4-41A42706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C90B9-1F08-4CE1-AE65-58F4412E4D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2754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BF319D-C985-5B98-077E-D7B5FB59D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9363F1C-A89E-1C4C-8772-0F2CEC9E3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78418-FD0E-4980-B2DC-1ADD6D8B186E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9FEEA60-AF09-4DCD-8AEA-5530508DB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2BF1BC0-6679-CCF0-6C22-81E8D454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C90B9-1F08-4CE1-AE65-58F4412E4D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2886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E5F8675-2551-DAC0-9E06-A583481E2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BAE3-4C03-4268-BA09-405B2CB4DE0E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4596D51-1377-00CD-0904-EE12D105B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EC9C87-4D48-1ABD-AA48-A4E0F2BA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C90B9-1F08-4CE1-AE65-58F4412E4D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289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DA542E-B789-589D-56F5-EB8C406A1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BD7019-E782-EFD5-4713-0E9C1363D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FE096C3-78AD-60FD-B1B6-374753ADA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ABB0AE-55FB-7FD5-2EC9-0EC36F2D2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ABA02-CF67-42B7-AA70-25F5B9CFCC28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7FC581-4CE9-531D-9C48-FB0EE0976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9E2BB33-EC25-6D26-9EF6-88187BCAC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C90B9-1F08-4CE1-AE65-58F4412E4D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0173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2D3187-70D5-CC89-3B82-73AE9409B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08221D0-C71C-DB40-B4D0-15257A060E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BAA7E3E-00FB-E364-C054-506E385DF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2E6714-564C-2BF6-570C-2D2B8C8D8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50C55-5F48-43F8-A90E-FB67A59441F7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954DFF-D0F3-FE92-92B5-9292C82A3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A96705B-1583-07F1-B092-9196A383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C90B9-1F08-4CE1-AE65-58F4412E4D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204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946A98-31DD-5F79-BC96-074207A01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53F2899-35C5-6EB7-A1EF-F35B119E1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060DA1-B02D-A79E-8BCC-9099A1FC0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F5EFA-F106-4526-B3E0-A008D7A232D8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C0C28A-9031-8D82-EB61-013F048C3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B0251F-5674-EF91-705D-5FC1380EC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C90B9-1F08-4CE1-AE65-58F4412E4D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6481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53F0226-5D3B-7917-604F-746C58FECD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2E940BD-6752-87B1-72C1-8698DC392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45212A-034C-C46E-128D-227FDE183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C9E26-EAE4-489E-9A19-D015A3C3669B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103AB1-6824-F34E-1042-757BA9AA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F481B1-35DC-AE4C-B134-E98E0172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C90B9-1F08-4CE1-AE65-58F4412E4D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748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BA2A1A6-9A45-790C-F0C0-4FF1C18E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4A0810-4BB2-50D4-8D2B-BF2ABF925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D2987A-1676-F0CA-35C4-A3D7A8A62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5D533-789E-4E12-A149-F38FE8F61753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2113003-3953-5351-AD8A-DF8A6407D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71AFE4-EE33-3A12-B5BC-683CD87C4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6342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C90B9-1F08-4CE1-AE65-58F4412E4D4D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8" name="圖片 7" descr="一張含有 箭 的圖片&#10;&#10;自動產生的描述">
            <a:extLst>
              <a:ext uri="{FF2B5EF4-FFF2-40B4-BE49-F238E27FC236}">
                <a16:creationId xmlns:a16="http://schemas.microsoft.com/office/drawing/2014/main" id="{F285C73F-F9FE-1E1B-49C8-8629B887CCC6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897" y="5542128"/>
            <a:ext cx="1539543" cy="1539543"/>
          </a:xfrm>
          <a:prstGeom prst="rect">
            <a:avLst/>
          </a:prstGeom>
        </p:spPr>
      </p:pic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3A6D3114-C3E5-936C-9FB4-3B19BBCD5EE6}"/>
              </a:ext>
            </a:extLst>
          </p:cNvPr>
          <p:cNvCxnSpPr>
            <a:cxnSpLocks/>
          </p:cNvCxnSpPr>
          <p:nvPr userDrawn="1"/>
        </p:nvCxnSpPr>
        <p:spPr>
          <a:xfrm>
            <a:off x="1031081" y="6538912"/>
            <a:ext cx="11062181" cy="0"/>
          </a:xfrm>
          <a:prstGeom prst="line">
            <a:avLst/>
          </a:prstGeom>
          <a:ln w="57150">
            <a:solidFill>
              <a:srgbClr val="C7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4EAE7E8-BA1C-2D5B-EF58-9197D027D315}"/>
              </a:ext>
            </a:extLst>
          </p:cNvPr>
          <p:cNvSpPr txBox="1"/>
          <p:nvPr userDrawn="1"/>
        </p:nvSpPr>
        <p:spPr>
          <a:xfrm>
            <a:off x="1031081" y="6523704"/>
            <a:ext cx="621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solidFill>
                  <a:srgbClr val="C70000"/>
                </a:solidFill>
              </a:rPr>
              <a:t>Computer Aided Verification Laboratory(CAV Lab) </a:t>
            </a:r>
            <a:endParaRPr lang="zh-TW" altLang="en-US">
              <a:solidFill>
                <a:srgbClr val="C7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47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5477F1-DCA6-30B6-94B8-7CFFA4BD6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64267"/>
            <a:ext cx="9144000" cy="1464136"/>
          </a:xfrm>
        </p:spPr>
        <p:txBody>
          <a:bodyPr anchor="ctr"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Project 1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C90F637-43B3-A9E4-A574-8D8FDFBCB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6143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altLang="zh-TW"/>
              <a:t>Lab Name: (your laboratory name)</a:t>
            </a:r>
          </a:p>
          <a:p>
            <a:r>
              <a:rPr lang="en-US" altLang="zh-TW"/>
              <a:t>Advisor: Prof. XXX</a:t>
            </a:r>
          </a:p>
          <a:p>
            <a:r>
              <a:rPr lang="en-US" altLang="zh-TW"/>
              <a:t>Group: # (e.g., Group 5)</a:t>
            </a:r>
          </a:p>
          <a:p>
            <a:r>
              <a:rPr lang="en-US" altLang="zh-TW"/>
              <a:t>Team Members: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FB8E39-CC44-39C8-B4DE-D6F067D2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3C90B9-1F08-4CE1-AE65-58F4412E4D4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173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0ADBA0-7F4C-006B-1AB2-156E63A5B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266" y="0"/>
            <a:ext cx="10515600" cy="1325563"/>
          </a:xfrm>
        </p:spPr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036427-9FE9-4564-881D-3D4813487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266" y="1325563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TW" altLang="zh-TW" dirty="0"/>
              <a:t>IBUF FIFO Behavior</a:t>
            </a:r>
            <a:endParaRPr lang="en-US" altLang="zh-TW" dirty="0"/>
          </a:p>
          <a:p>
            <a:pPr>
              <a:lnSpc>
                <a:spcPct val="100000"/>
              </a:lnSpc>
            </a:pPr>
            <a:r>
              <a:rPr lang="zh-TW" altLang="zh-TW" dirty="0"/>
              <a:t>Formal Verification</a:t>
            </a:r>
            <a:endParaRPr lang="en-US" altLang="zh-TW" dirty="0"/>
          </a:p>
          <a:p>
            <a:pPr lvl="1">
              <a:lnSpc>
                <a:spcPct val="100000"/>
              </a:lnSpc>
            </a:pPr>
            <a:r>
              <a:rPr lang="zh-TW" altLang="zh-TW" dirty="0"/>
              <a:t>SVA Verification</a:t>
            </a:r>
            <a:endParaRPr lang="en-US" altLang="zh-TW" dirty="0"/>
          </a:p>
          <a:p>
            <a:pPr lvl="1">
              <a:lnSpc>
                <a:spcPct val="100000"/>
              </a:lnSpc>
            </a:pPr>
            <a:r>
              <a:rPr lang="zh-TW" altLang="zh-TW" dirty="0"/>
              <a:t>Scoreboard 3</a:t>
            </a:r>
            <a:endParaRPr lang="en-US" altLang="zh-TW" dirty="0"/>
          </a:p>
          <a:p>
            <a:pPr>
              <a:lnSpc>
                <a:spcPct val="100000"/>
              </a:lnSpc>
            </a:pPr>
            <a:r>
              <a:rPr lang="zh-TW" altLang="zh-TW" dirty="0"/>
              <a:t>Bug Detection and </a:t>
            </a:r>
            <a:r>
              <a:rPr lang="en-US" altLang="zh-TW" dirty="0"/>
              <a:t>Debug</a:t>
            </a:r>
          </a:p>
          <a:p>
            <a:pPr>
              <a:lnSpc>
                <a:spcPct val="100000"/>
              </a:lnSpc>
            </a:pPr>
            <a:r>
              <a:rPr lang="zh-TW" altLang="zh-TW" dirty="0"/>
              <a:t>Resource </a:t>
            </a:r>
            <a:r>
              <a:rPr lang="en-US" altLang="zh-TW" dirty="0"/>
              <a:t>Information</a:t>
            </a:r>
            <a:r>
              <a:rPr lang="zh-TW" altLang="zh-TW" dirty="0"/>
              <a:t> </a:t>
            </a:r>
            <a:endParaRPr lang="en-US" altLang="zh-TW" dirty="0"/>
          </a:p>
          <a:p>
            <a:pPr>
              <a:lnSpc>
                <a:spcPct val="100000"/>
              </a:lnSpc>
            </a:pPr>
            <a:r>
              <a:rPr lang="zh-TW" altLang="zh-TW" dirty="0"/>
              <a:t>Bonus: Formal Coverage Analysis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F02245-7C32-4A38-C5AF-27B4064B7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3C90B9-1F08-4CE1-AE65-58F4412E4D4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156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B487AF-01B3-B35D-7FE7-598C4438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249" y="18255"/>
            <a:ext cx="10515600" cy="1325563"/>
          </a:xfrm>
        </p:spPr>
        <p:txBody>
          <a:bodyPr/>
          <a:lstStyle/>
          <a:p>
            <a:r>
              <a:rPr lang="zh-TW" altLang="zh-TW" dirty="0"/>
              <a:t>IBUF FIFO Behavior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DAAF2E-F478-143C-5C57-9E678574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3C90B9-1F08-4CE1-AE65-58F4412E4D4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765BFD31-3DAF-794B-929D-F19A270C9270}"/>
              </a:ext>
            </a:extLst>
          </p:cNvPr>
          <p:cNvSpPr txBox="1">
            <a:spLocks/>
          </p:cNvSpPr>
          <p:nvPr/>
        </p:nvSpPr>
        <p:spPr>
          <a:xfrm>
            <a:off x="670249" y="1343818"/>
            <a:ext cx="11206193" cy="50706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Explain the FIFO behavior of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IBUF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Use </a:t>
            </a:r>
            <a:r>
              <a:rPr kumimoji="0" lang="zh-TW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a diagram or bullet points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Describe the </a:t>
            </a:r>
            <a:r>
              <a:rPr kumimoji="0" lang="zh-TW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key verification signals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A8A27EF-C024-84FE-AF41-FF95BDFA6655}"/>
              </a:ext>
            </a:extLst>
          </p:cNvPr>
          <p:cNvSpPr txBox="1"/>
          <p:nvPr/>
        </p:nvSpPr>
        <p:spPr>
          <a:xfrm>
            <a:off x="5960533" y="3657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9673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9F1EE8-F4AD-4BBC-5F35-8CC99E227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89A3A5-86FF-3026-8D14-C9F57452C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10" y="18255"/>
            <a:ext cx="10515600" cy="1325563"/>
          </a:xfrm>
        </p:spPr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SVA Verification</a:t>
            </a:r>
            <a:endParaRPr lang="zh-TW" altLang="en-US" b="1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D80C2F-FF3E-B2BA-0959-D05F77D57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09" y="1191418"/>
            <a:ext cx="11089433" cy="827314"/>
          </a:xfrm>
        </p:spPr>
        <p:txBody>
          <a:bodyPr/>
          <a:lstStyle/>
          <a:p>
            <a:r>
              <a:rPr lang="en-US" altLang="zh-TW"/>
              <a:t>SVA Property (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- Drop</a:t>
            </a:r>
            <a:r>
              <a:rPr lang="en-US" altLang="zh-TW"/>
              <a:t>) : 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A7ACA9-7A9C-8587-194F-D8E19098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3C90B9-1F08-4CE1-AE65-58F4412E4D4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00FD96DF-E5C9-27B1-9A29-040DB61AB777}"/>
              </a:ext>
            </a:extLst>
          </p:cNvPr>
          <p:cNvSpPr txBox="1">
            <a:spLocks/>
          </p:cNvSpPr>
          <p:nvPr/>
        </p:nvSpPr>
        <p:spPr>
          <a:xfrm>
            <a:off x="816428" y="1915887"/>
            <a:ext cx="10388081" cy="457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Property :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8A2B555-6FE4-C197-EB7E-FB3E37630758}"/>
              </a:ext>
            </a:extLst>
          </p:cNvPr>
          <p:cNvSpPr txBox="1"/>
          <p:nvPr/>
        </p:nvSpPr>
        <p:spPr>
          <a:xfrm>
            <a:off x="4518028" y="4019715"/>
            <a:ext cx="3155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Paste your code and explanation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134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8A7FEB-DC35-FECE-4785-32E6FD6E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06E217-F0F1-93E7-871F-345F09198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10" y="18255"/>
            <a:ext cx="10515600" cy="1325563"/>
          </a:xfrm>
        </p:spPr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SVA Verification</a:t>
            </a:r>
            <a:endParaRPr lang="zh-TW" altLang="en-US" b="1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9FAD72-1B4F-174C-9C5F-89B152C22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09" y="1191418"/>
            <a:ext cx="11089433" cy="827314"/>
          </a:xfrm>
        </p:spPr>
        <p:txBody>
          <a:bodyPr>
            <a:normAutofit/>
          </a:bodyPr>
          <a:lstStyle/>
          <a:p>
            <a:r>
              <a:rPr lang="en-US" altLang="zh-TW"/>
              <a:t>SVA Property (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- Duplicate</a:t>
            </a:r>
            <a:r>
              <a:rPr lang="en-US" altLang="zh-TW"/>
              <a:t>) : 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6CA7DD-B912-689E-002C-8F2C39B1E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3C90B9-1F08-4CE1-AE65-58F4412E4D4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A115B7F-DDEE-117A-4BED-4064F982DC4B}"/>
              </a:ext>
            </a:extLst>
          </p:cNvPr>
          <p:cNvSpPr txBox="1">
            <a:spLocks/>
          </p:cNvSpPr>
          <p:nvPr/>
        </p:nvSpPr>
        <p:spPr>
          <a:xfrm>
            <a:off x="816428" y="1915887"/>
            <a:ext cx="10388081" cy="457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Property :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232ACCA-3400-3381-E056-2E52F9F1A66B}"/>
              </a:ext>
            </a:extLst>
          </p:cNvPr>
          <p:cNvSpPr txBox="1"/>
          <p:nvPr/>
        </p:nvSpPr>
        <p:spPr>
          <a:xfrm>
            <a:off x="4518028" y="4019715"/>
            <a:ext cx="3155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Paste your code and explanation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942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7DB035-0188-3D20-7A2F-901CB64B1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CAB3C9-40D8-A7B8-52DA-C6FA9E733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10" y="18255"/>
            <a:ext cx="10515600" cy="1325563"/>
          </a:xfrm>
        </p:spPr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SVA Verification</a:t>
            </a:r>
            <a:endParaRPr lang="zh-TW" altLang="en-US" b="1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C91E99-F638-AFF2-45DC-AC18BE1C0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09" y="1191418"/>
            <a:ext cx="11089433" cy="827314"/>
          </a:xfrm>
        </p:spPr>
        <p:txBody>
          <a:bodyPr/>
          <a:lstStyle/>
          <a:p>
            <a:r>
              <a:rPr lang="en-US" altLang="zh-TW"/>
              <a:t>SVA Property (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- Out of Order</a:t>
            </a:r>
            <a:r>
              <a:rPr lang="en-US" altLang="zh-TW"/>
              <a:t>) : 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10626A-959D-4425-905B-877724BD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3C90B9-1F08-4CE1-AE65-58F4412E4D4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3A5E591A-1E1F-83B9-FE2E-14CF7DDB9909}"/>
              </a:ext>
            </a:extLst>
          </p:cNvPr>
          <p:cNvSpPr txBox="1">
            <a:spLocks/>
          </p:cNvSpPr>
          <p:nvPr/>
        </p:nvSpPr>
        <p:spPr>
          <a:xfrm>
            <a:off x="816428" y="1915887"/>
            <a:ext cx="10388081" cy="457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Property :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FE62F59-E3ED-2A3A-6F22-C7005174A409}"/>
              </a:ext>
            </a:extLst>
          </p:cNvPr>
          <p:cNvSpPr txBox="1"/>
          <p:nvPr/>
        </p:nvSpPr>
        <p:spPr>
          <a:xfrm>
            <a:off x="4518028" y="4019715"/>
            <a:ext cx="3155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Paste your code and explanation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076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333B62-86CC-32A5-FEEE-9E9A64EAC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62346-3391-2CC4-45BA-6674C44E2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10" y="18255"/>
            <a:ext cx="10515600" cy="1325563"/>
          </a:xfrm>
        </p:spPr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SVA Verification</a:t>
            </a:r>
            <a:endParaRPr lang="zh-TW" altLang="en-US" b="1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EE0148-C40F-7250-D741-DDD0BF2BF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09" y="1191418"/>
            <a:ext cx="11089433" cy="827314"/>
          </a:xfrm>
        </p:spPr>
        <p:txBody>
          <a:bodyPr/>
          <a:lstStyle/>
          <a:p>
            <a:r>
              <a:rPr lang="en-US" altLang="zh-TW" dirty="0"/>
              <a:t>SVA Property (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- Data Corrupted</a:t>
            </a:r>
            <a:r>
              <a:rPr lang="en-US" altLang="zh-TW" dirty="0"/>
              <a:t>) :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33DA38-0801-DCF1-F030-EDA8970C5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3C90B9-1F08-4CE1-AE65-58F4412E4D4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EDFBA53A-79AC-E3B7-69FA-5C277ACAC989}"/>
              </a:ext>
            </a:extLst>
          </p:cNvPr>
          <p:cNvSpPr txBox="1">
            <a:spLocks/>
          </p:cNvSpPr>
          <p:nvPr/>
        </p:nvSpPr>
        <p:spPr>
          <a:xfrm>
            <a:off x="816428" y="1915887"/>
            <a:ext cx="10388081" cy="457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Property :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A1375AB-D59E-517D-D066-FDAED0850A3F}"/>
              </a:ext>
            </a:extLst>
          </p:cNvPr>
          <p:cNvSpPr txBox="1"/>
          <p:nvPr/>
        </p:nvSpPr>
        <p:spPr>
          <a:xfrm>
            <a:off x="4518028" y="4019715"/>
            <a:ext cx="3155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Paste your code and explanation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499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0D9A1B-F42F-A6EE-5306-C9594F15C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579" y="18255"/>
            <a:ext cx="10515600" cy="1325563"/>
          </a:xfrm>
        </p:spPr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Scoreboard3</a:t>
            </a:r>
            <a:endParaRPr lang="zh-TW" altLang="en-US" b="1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CA95A8-F26D-11D3-13D1-6AC999422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3C90B9-1F08-4CE1-AE65-58F4412E4D4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91D540C8-ABEB-7158-D394-5E5CBD579CCF}"/>
              </a:ext>
            </a:extLst>
          </p:cNvPr>
          <p:cNvSpPr txBox="1">
            <a:spLocks/>
          </p:cNvSpPr>
          <p:nvPr/>
        </p:nvSpPr>
        <p:spPr>
          <a:xfrm>
            <a:off x="838432" y="1257866"/>
            <a:ext cx="4851167" cy="544773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Interface and Binding </a:t>
            </a: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: 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A6A8CB1-8F75-4EDF-286C-03C5A6A1D719}"/>
              </a:ext>
            </a:extLst>
          </p:cNvPr>
          <p:cNvSpPr txBox="1"/>
          <p:nvPr/>
        </p:nvSpPr>
        <p:spPr>
          <a:xfrm>
            <a:off x="1686043" y="3826813"/>
            <a:ext cx="3155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Paste your code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3A060A33-56F2-3FC3-95DE-A11D77DF7CE6}"/>
              </a:ext>
            </a:extLst>
          </p:cNvPr>
          <p:cNvSpPr txBox="1">
            <a:spLocks/>
          </p:cNvSpPr>
          <p:nvPr/>
        </p:nvSpPr>
        <p:spPr>
          <a:xfrm>
            <a:off x="6222971" y="1257866"/>
            <a:ext cx="5130597" cy="544773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Jasper Result :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D51E158-DF02-FAB8-EF78-69A14424246D}"/>
              </a:ext>
            </a:extLst>
          </p:cNvPr>
          <p:cNvSpPr txBox="1"/>
          <p:nvPr/>
        </p:nvSpPr>
        <p:spPr>
          <a:xfrm>
            <a:off x="7210297" y="3826813"/>
            <a:ext cx="3155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Paste 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verification result </a:t>
            </a:r>
          </a:p>
        </p:txBody>
      </p:sp>
    </p:spTree>
    <p:extLst>
      <p:ext uri="{BB962C8B-B14F-4D97-AF65-F5344CB8AC3E}">
        <p14:creationId xmlns:p14="http://schemas.microsoft.com/office/powerpoint/2010/main" val="1580171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113D0-AA1A-EC19-03AD-781F0AA06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306107-F324-12BA-7189-479FAA30F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09" y="1191418"/>
            <a:ext cx="11089433" cy="827314"/>
          </a:xfrm>
        </p:spPr>
        <p:txBody>
          <a:bodyPr/>
          <a:lstStyle/>
          <a:p>
            <a:r>
              <a:rPr lang="en-US" altLang="zh-TW" dirty="0"/>
              <a:t>Bug N.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E265BF-E358-0F56-B104-73F432A6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3C90B9-1F08-4CE1-AE65-58F4412E4D4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ECAA8B0-499E-ADF6-D1EE-8A438689A940}"/>
              </a:ext>
            </a:extLst>
          </p:cNvPr>
          <p:cNvSpPr txBox="1">
            <a:spLocks/>
          </p:cNvSpPr>
          <p:nvPr/>
        </p:nvSpPr>
        <p:spPr>
          <a:xfrm>
            <a:off x="947846" y="1768840"/>
            <a:ext cx="10714502" cy="46964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Bug Detection &amp; Root Cause: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87B4038-9EEF-A136-C34D-0AC24674D04C}"/>
              </a:ext>
            </a:extLst>
          </p:cNvPr>
          <p:cNvSpPr txBox="1"/>
          <p:nvPr/>
        </p:nvSpPr>
        <p:spPr>
          <a:xfrm>
            <a:off x="3621408" y="3578447"/>
            <a:ext cx="53673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Detect and debug bugs using your own SVA first.</a:t>
            </a:r>
            <a:br>
              <a:rPr kumimoji="0" lang="zh-TW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</a:br>
            <a:r>
              <a:rPr kumimoji="0" lang="zh-TW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Use Scoreboard 3 only if no further bugs can be identified.</a:t>
            </a:r>
            <a:br>
              <a:rPr kumimoji="0" lang="zh-TW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</a:br>
            <a:r>
              <a:rPr kumimoji="0" lang="zh-TW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Explain the root cause using counterexample waveforms and RTL code.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17" name="標題 1">
            <a:extLst>
              <a:ext uri="{FF2B5EF4-FFF2-40B4-BE49-F238E27FC236}">
                <a16:creationId xmlns:a16="http://schemas.microsoft.com/office/drawing/2014/main" id="{E0922AA3-D8B9-9723-B5A5-1305E6532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10" y="1825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TW" altLang="zh-TW" dirty="0"/>
              <a:t>Bug Detection and </a:t>
            </a:r>
            <a:r>
              <a:rPr lang="en-US" altLang="zh-TW" dirty="0"/>
              <a:t>Debug</a:t>
            </a:r>
          </a:p>
        </p:txBody>
      </p:sp>
    </p:spTree>
    <p:extLst>
      <p:ext uri="{BB962C8B-B14F-4D97-AF65-F5344CB8AC3E}">
        <p14:creationId xmlns:p14="http://schemas.microsoft.com/office/powerpoint/2010/main" val="2877262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1093A-71DD-D74F-D596-E9D482DE8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B60D11-3691-2188-BD3F-661EE1AC9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10" y="1825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TW" altLang="zh-TW" dirty="0"/>
              <a:t>Bug Detection and </a:t>
            </a:r>
            <a:r>
              <a:rPr lang="en-US" altLang="zh-TW" dirty="0"/>
              <a:t>Debug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1F2F02-62A0-3C85-3472-4AB3658B2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09" y="1191418"/>
            <a:ext cx="11089433" cy="827314"/>
          </a:xfrm>
        </p:spPr>
        <p:txBody>
          <a:bodyPr/>
          <a:lstStyle/>
          <a:p>
            <a:r>
              <a:rPr lang="en-US" altLang="zh-TW" dirty="0"/>
              <a:t>Bug N.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A54824-668D-7AF8-2E7C-AE216223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3C90B9-1F08-4CE1-AE65-58F4412E4D4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BD54468E-228A-0D7E-E87C-97DF7F7069B8}"/>
              </a:ext>
            </a:extLst>
          </p:cNvPr>
          <p:cNvSpPr txBox="1">
            <a:spLocks/>
          </p:cNvSpPr>
          <p:nvPr/>
        </p:nvSpPr>
        <p:spPr>
          <a:xfrm>
            <a:off x="688908" y="1748716"/>
            <a:ext cx="10005527" cy="21787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RTL Fix: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288EB26-496B-0086-A624-5F61970C5A25}"/>
              </a:ext>
            </a:extLst>
          </p:cNvPr>
          <p:cNvSpPr txBox="1"/>
          <p:nvPr/>
        </p:nvSpPr>
        <p:spPr>
          <a:xfrm>
            <a:off x="4028830" y="2514903"/>
            <a:ext cx="3325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Show the modified RTL code and explain the fix.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E6FF93B3-C461-3D45-4F23-C17CF3B5D169}"/>
              </a:ext>
            </a:extLst>
          </p:cNvPr>
          <p:cNvSpPr txBox="1">
            <a:spLocks/>
          </p:cNvSpPr>
          <p:nvPr/>
        </p:nvSpPr>
        <p:spPr>
          <a:xfrm>
            <a:off x="688908" y="4205796"/>
            <a:ext cx="10005527" cy="21787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Re-verification Result: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5872FDA-FF0F-ACD5-ECF8-21DDAF473302}"/>
              </a:ext>
            </a:extLst>
          </p:cNvPr>
          <p:cNvSpPr txBox="1"/>
          <p:nvPr/>
        </p:nvSpPr>
        <p:spPr>
          <a:xfrm>
            <a:off x="2474764" y="5110483"/>
            <a:ext cx="643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Paste the Jasper result after the fix.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393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B13A6D-1AA9-F872-47EE-BA1714F26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3C90B9-1F08-4CE1-AE65-58F4412E4D4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D68227E-E85F-DA4A-BE34-F445BCC067D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70934"/>
          <a:ext cx="4652752" cy="3106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018">
                  <a:extLst>
                    <a:ext uri="{9D8B030D-6E8A-4147-A177-3AD203B41FA5}">
                      <a16:colId xmlns:a16="http://schemas.microsoft.com/office/drawing/2014/main" val="1120746724"/>
                    </a:ext>
                  </a:extLst>
                </a:gridCol>
                <a:gridCol w="1468649">
                  <a:extLst>
                    <a:ext uri="{9D8B030D-6E8A-4147-A177-3AD203B41FA5}">
                      <a16:colId xmlns:a16="http://schemas.microsoft.com/office/drawing/2014/main" val="62150038"/>
                    </a:ext>
                  </a:extLst>
                </a:gridCol>
                <a:gridCol w="1647085">
                  <a:extLst>
                    <a:ext uri="{9D8B030D-6E8A-4147-A177-3AD203B41FA5}">
                      <a16:colId xmlns:a16="http://schemas.microsoft.com/office/drawing/2014/main" val="1021925666"/>
                    </a:ext>
                  </a:extLst>
                </a:gridCol>
              </a:tblGrid>
              <a:tr h="1020895">
                <a:tc>
                  <a:txBody>
                    <a:bodyPr/>
                    <a:lstStyle/>
                    <a:p>
                      <a:r>
                        <a:rPr lang="zh-TW" altLang="zh-TW" sz="2000" dirty="0">
                          <a:solidFill>
                            <a:schemeClr val="tx1"/>
                          </a:solidFill>
                        </a:rPr>
                        <a:t>Resource 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Information</a:t>
                      </a:r>
                      <a:r>
                        <a:rPr lang="zh-TW" altLang="zh-TW" sz="20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solidFill>
                            <a:schemeClr val="tx1"/>
                          </a:solidFill>
                        </a:rPr>
                        <a:t>SVA Verification</a:t>
                      </a:r>
                    </a:p>
                    <a:p>
                      <a:endParaRPr lang="zh-TW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2000">
                          <a:solidFill>
                            <a:schemeClr val="tx1"/>
                          </a:solidFill>
                        </a:rPr>
                        <a:t>Scoreboard</a:t>
                      </a:r>
                      <a:r>
                        <a:rPr lang="zh-TW" altLang="en-US" sz="2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zh-TW" sz="20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TW" sz="2000">
                        <a:solidFill>
                          <a:schemeClr val="tx1"/>
                        </a:solidFill>
                      </a:endParaRPr>
                    </a:p>
                    <a:p>
                      <a:endParaRPr lang="zh-TW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91635"/>
                  </a:ext>
                </a:extLst>
              </a:tr>
              <a:tr h="624285">
                <a:tc>
                  <a:txBody>
                    <a:bodyPr/>
                    <a:lstStyle/>
                    <a:p>
                      <a:r>
                        <a:rPr lang="zh-TW" altLang="zh-TW" sz="2000"/>
                        <a:t>Gate count</a:t>
                      </a:r>
                      <a:endParaRPr lang="zh-TW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zh-TW" alt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填空</a:t>
                      </a:r>
                      <a:r>
                        <a:rPr lang="en-US" altLang="zh-TW" sz="1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)</a:t>
                      </a:r>
                      <a:endParaRPr lang="zh-TW" altLang="en-US" sz="1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zh-TW" altLang="en-US" sz="18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填空</a:t>
                      </a:r>
                      <a:r>
                        <a:rPr lang="en-US" altLang="zh-TW" sz="18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)</a:t>
                      </a:r>
                      <a:endParaRPr lang="zh-TW" altLang="en-US" sz="18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endParaRPr lang="zh-TW" altLang="en-US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06939"/>
                  </a:ext>
                </a:extLst>
              </a:tr>
              <a:tr h="805656">
                <a:tc>
                  <a:txBody>
                    <a:bodyPr/>
                    <a:lstStyle/>
                    <a:p>
                      <a:r>
                        <a:rPr lang="zh-TW" altLang="zh-TW" sz="2000"/>
                        <a:t>memory usage</a:t>
                      </a:r>
                      <a:endParaRPr lang="zh-TW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zh-TW" altLang="en-US" sz="18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填空</a:t>
                      </a:r>
                      <a:r>
                        <a:rPr lang="en-US" altLang="zh-TW" sz="18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)</a:t>
                      </a:r>
                      <a:endParaRPr lang="zh-TW" altLang="en-US" sz="18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endParaRPr lang="zh-TW" altLang="en-US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zh-TW" altLang="en-US" sz="18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填空</a:t>
                      </a:r>
                      <a:r>
                        <a:rPr lang="en-US" altLang="zh-TW" sz="18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)</a:t>
                      </a:r>
                      <a:endParaRPr lang="zh-TW" altLang="en-US" sz="18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endParaRPr lang="zh-TW" altLang="en-US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732170"/>
                  </a:ext>
                </a:extLst>
              </a:tr>
              <a:tr h="5441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2000"/>
                        <a:t>runtime </a:t>
                      </a:r>
                      <a:endParaRPr lang="en-US" altLang="zh-TW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zh-TW" altLang="en-US" sz="18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填空</a:t>
                      </a:r>
                      <a:r>
                        <a:rPr lang="en-US" altLang="zh-TW" sz="18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)</a:t>
                      </a:r>
                      <a:endParaRPr lang="zh-TW" altLang="en-US" sz="18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endParaRPr lang="zh-TW" altLang="en-US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zh-TW" alt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填空</a:t>
                      </a:r>
                      <a:r>
                        <a:rPr lang="en-US" altLang="zh-TW" sz="1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)</a:t>
                      </a:r>
                      <a:endParaRPr lang="zh-TW" altLang="en-US" sz="1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867989"/>
                  </a:ext>
                </a:extLst>
              </a:tr>
            </a:tbl>
          </a:graphicData>
        </a:graphic>
      </p:graphicFrame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A56B1AF2-3F97-C599-8186-1DB607E92FA7}"/>
              </a:ext>
            </a:extLst>
          </p:cNvPr>
          <p:cNvSpPr txBox="1">
            <a:spLocks/>
          </p:cNvSpPr>
          <p:nvPr/>
        </p:nvSpPr>
        <p:spPr>
          <a:xfrm>
            <a:off x="6373276" y="1439333"/>
            <a:ext cx="5213221" cy="485986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Explain the differences: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38D7956-2533-FA32-F149-820C82EFA8AC}"/>
              </a:ext>
            </a:extLst>
          </p:cNvPr>
          <p:cNvSpPr txBox="1"/>
          <p:nvPr/>
        </p:nvSpPr>
        <p:spPr>
          <a:xfrm>
            <a:off x="9093200" y="37930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8FD7FFD-FEF2-A064-C1AE-F34A014C8DCE}"/>
              </a:ext>
            </a:extLst>
          </p:cNvPr>
          <p:cNvSpPr txBox="1"/>
          <p:nvPr/>
        </p:nvSpPr>
        <p:spPr>
          <a:xfrm>
            <a:off x="7696115" y="3381915"/>
            <a:ext cx="3038914" cy="9747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Analyze the reasons for the differences between SVA and Scoreboard 3.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98307F0B-85E1-939E-0157-F9903F029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10" y="18255"/>
            <a:ext cx="11074112" cy="1325563"/>
          </a:xfrm>
        </p:spPr>
        <p:txBody>
          <a:bodyPr>
            <a:normAutofit/>
          </a:bodyPr>
          <a:lstStyle/>
          <a:p>
            <a:r>
              <a:rPr lang="zh-TW" altLang="zh-TW" sz="4000" dirty="0"/>
              <a:t>Resource Comparison (</a:t>
            </a:r>
            <a:r>
              <a:rPr lang="en-US" altLang="zh-TW" sz="4000" dirty="0"/>
              <a:t>After </a:t>
            </a:r>
            <a:r>
              <a:rPr lang="zh-TW" altLang="zh-TW" sz="4000" dirty="0"/>
              <a:t>All Properties Proven)</a:t>
            </a:r>
            <a:endParaRPr lang="en-US" altLang="zh-TW" sz="4000" dirty="0"/>
          </a:p>
        </p:txBody>
      </p:sp>
    </p:spTree>
    <p:extLst>
      <p:ext uri="{BB962C8B-B14F-4D97-AF65-F5344CB8AC3E}">
        <p14:creationId xmlns:p14="http://schemas.microsoft.com/office/powerpoint/2010/main" val="2794682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775330-59C7-8754-0F58-C466C609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3C90B9-1F08-4CE1-AE65-58F4412E4D4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5FD7CB12-2B7B-01DF-1569-0552602F0723}"/>
              </a:ext>
            </a:extLst>
          </p:cNvPr>
          <p:cNvSpPr txBox="1">
            <a:spLocks/>
          </p:cNvSpPr>
          <p:nvPr/>
        </p:nvSpPr>
        <p:spPr>
          <a:xfrm>
            <a:off x="68891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zh-TW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j-cs"/>
              </a:rPr>
              <a:t>Bonus: Formal Coverage Analysis</a:t>
            </a:r>
            <a:endParaRPr kumimoji="0" lang="en-US" altLang="zh-TW" sz="4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8945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用這個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364</Words>
  <Application>Microsoft Office PowerPoint</Application>
  <PresentationFormat>寬螢幕</PresentationFormat>
  <Paragraphs>87</Paragraphs>
  <Slides>12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Office 佈景主題</vt:lpstr>
      <vt:lpstr>Project 1</vt:lpstr>
      <vt:lpstr>Outline</vt:lpstr>
      <vt:lpstr>IBUF FIFO Behavior</vt:lpstr>
      <vt:lpstr>SVA Verification</vt:lpstr>
      <vt:lpstr>SVA Verification</vt:lpstr>
      <vt:lpstr>SVA Verification</vt:lpstr>
      <vt:lpstr>SVA Verification</vt:lpstr>
      <vt:lpstr>Scoreboard3</vt:lpstr>
      <vt:lpstr>Bug Detection and Debug</vt:lpstr>
      <vt:lpstr>Bug Detection and Debug</vt:lpstr>
      <vt:lpstr>Resource Comparison (After All Properties Proven)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高揚喻 KAO,YANG-YU</cp:lastModifiedBy>
  <cp:revision>3</cp:revision>
  <dcterms:created xsi:type="dcterms:W3CDTF">2026-09-14T13:05:45Z</dcterms:created>
  <dcterms:modified xsi:type="dcterms:W3CDTF">2026-09-15T08:25:32Z</dcterms:modified>
</cp:coreProperties>
</file>